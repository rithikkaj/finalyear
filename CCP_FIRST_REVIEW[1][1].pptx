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77" r:id="rId4"/>
    <p:sldId id="278" r:id="rId5"/>
    <p:sldId id="273" r:id="rId6"/>
    <p:sldId id="279" r:id="rId7"/>
    <p:sldId id="267" r:id="rId8"/>
    <p:sldId id="280" r:id="rId9"/>
    <p:sldId id="275" r:id="rId10"/>
    <p:sldId id="276" r:id="rId11"/>
    <p:sldId id="281" r:id="rId12"/>
    <p:sldId id="282" r:id="rId13"/>
    <p:sldId id="262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3" d="100"/>
          <a:sy n="83" d="100"/>
        </p:scale>
        <p:origin x="614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B49C5-FF9B-4CDC-A940-1C5A74DF0E15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165C7-3937-489E-B7B8-DCDE19F271CE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B49C5-FF9B-4CDC-A940-1C5A74DF0E15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165C7-3937-489E-B7B8-DCDE19F271CE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B49C5-FF9B-4CDC-A940-1C5A74DF0E15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165C7-3937-489E-B7B8-DCDE19F271CE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B49C5-FF9B-4CDC-A940-1C5A74DF0E15}" type="datetimeFigureOut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165C7-3937-489E-B7B8-DCDE19F271CE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B49C5-FF9B-4CDC-A940-1C5A74DF0E15}" type="datetimeFigureOut">
              <a:rPr lang="en-IN" smtClean="0"/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165C7-3937-489E-B7B8-DCDE19F271CE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B49C5-FF9B-4CDC-A940-1C5A74DF0E15}" type="datetimeFigureOut">
              <a:rPr lang="en-IN" smtClean="0"/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165C7-3937-489E-B7B8-DCDE19F271CE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B49C5-FF9B-4CDC-A940-1C5A74DF0E15}" type="datetimeFigureOut">
              <a:rPr lang="en-IN" smtClean="0"/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165C7-3937-489E-B7B8-DCDE19F271CE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B49C5-FF9B-4CDC-A940-1C5A74DF0E15}" type="datetimeFigureOut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165C7-3937-489E-B7B8-DCDE19F271CE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B49C5-FF9B-4CDC-A940-1C5A74DF0E15}" type="datetimeFigureOut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165C7-3937-489E-B7B8-DCDE19F271CE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B49C5-FF9B-4CDC-A940-1C5A74DF0E15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165C7-3937-489E-B7B8-DCDE19F271CE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B49C5-FF9B-4CDC-A940-1C5A74DF0E15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165C7-3937-489E-B7B8-DCDE19F271CE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EB49C5-FF9B-4CDC-A940-1C5A74DF0E15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8165C7-3937-489E-B7B8-DCDE19F271CE}" type="slidenum">
              <a:rPr lang="en-IN" smtClean="0"/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433944"/>
            <a:ext cx="9144000" cy="2116255"/>
          </a:xfrm>
        </p:spPr>
        <p:txBody>
          <a:bodyPr>
            <a:normAutofit/>
          </a:bodyPr>
          <a:lstStyle/>
          <a:p>
            <a:r>
              <a:rPr lang="en-IN" b="1" dirty="0"/>
              <a:t>“</a:t>
            </a:r>
            <a:r>
              <a:rPr lang="en-US" b="1" dirty="0">
                <a:sym typeface="+mn-ea"/>
              </a:rPr>
              <a:t>AI-Based Student Mental Health Support System</a:t>
            </a:r>
            <a:r>
              <a:rPr lang="en-IN" b="1" dirty="0"/>
              <a:t>”</a:t>
            </a:r>
            <a:endParaRPr lang="en-IN"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95960" y="4329631"/>
            <a:ext cx="4572000" cy="1655762"/>
          </a:xfrm>
        </p:spPr>
        <p:txBody>
          <a:bodyPr>
            <a:normAutofit/>
          </a:bodyPr>
          <a:lstStyle/>
          <a:p>
            <a:pPr algn="l"/>
            <a:r>
              <a:rPr lang="en-IN" b="1" dirty="0"/>
              <a:t>RITHIKKA J</a:t>
            </a:r>
            <a:endParaRPr lang="en-IN" b="1" dirty="0"/>
          </a:p>
          <a:p>
            <a:pPr algn="l"/>
            <a:r>
              <a:rPr lang="en-IN" b="1" dirty="0"/>
              <a:t>22AD098</a:t>
            </a:r>
            <a:endParaRPr lang="en-IN" b="1" dirty="0"/>
          </a:p>
        </p:txBody>
      </p:sp>
      <p:sp>
        <p:nvSpPr>
          <p:cNvPr id="5" name="Subtitle 2"/>
          <p:cNvSpPr txBox="1"/>
          <p:nvPr/>
        </p:nvSpPr>
        <p:spPr>
          <a:xfrm>
            <a:off x="6924042" y="4307801"/>
            <a:ext cx="4572000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IN" b="1" dirty="0"/>
              <a:t>RAJAPREETHI V</a:t>
            </a:r>
            <a:endParaRPr lang="en-IN" b="1" dirty="0"/>
          </a:p>
          <a:p>
            <a:pPr algn="r"/>
            <a:r>
              <a:rPr lang="en-IN" b="1" dirty="0"/>
              <a:t>22AD095</a:t>
            </a:r>
            <a:endParaRPr lang="en-IN" b="1" dirty="0"/>
          </a:p>
        </p:txBody>
      </p:sp>
      <p:sp>
        <p:nvSpPr>
          <p:cNvPr id="6" name="Subtitle 2"/>
          <p:cNvSpPr txBox="1"/>
          <p:nvPr/>
        </p:nvSpPr>
        <p:spPr>
          <a:xfrm>
            <a:off x="2562977" y="5617411"/>
            <a:ext cx="7066049" cy="108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2800" b="1" dirty="0"/>
              <a:t>Dept of AI &amp; DS</a:t>
            </a:r>
            <a:endParaRPr lang="en-IN" sz="2800" b="1" dirty="0"/>
          </a:p>
          <a:p>
            <a:r>
              <a:rPr lang="en-IN" sz="2800" b="1" dirty="0"/>
              <a:t>Chennai Institute of Technology, Chennai - 69</a:t>
            </a:r>
            <a:endParaRPr lang="en-IN" sz="2800" b="1" dirty="0"/>
          </a:p>
        </p:txBody>
      </p:sp>
      <p:pic>
        <p:nvPicPr>
          <p:cNvPr id="4" name="Picture 2" descr="Startup 20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48225" y="2821544"/>
            <a:ext cx="2495550" cy="182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4348480" y="4826000"/>
            <a:ext cx="37702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MENTOR :  </a:t>
            </a:r>
            <a:r>
              <a:rPr lang="en-US" sz="2400" b="1" dirty="0" err="1"/>
              <a:t>Ms.HEMALATHA.D</a:t>
            </a:r>
            <a:endParaRPr lang="en-US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GB" altLang="en-US"/>
              <a:t>INTRODUCTION</a:t>
            </a:r>
            <a:endParaRPr lang="en-GB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p>
            <a:r>
              <a:rPr lang="en-US" altLang="en-GB" sz="2000"/>
              <a:t>Mental health issues such as stress, anxiety, and depression are increasingly common among students due to academic pressure, lifestyle changes, and social challenges. </a:t>
            </a:r>
            <a:endParaRPr lang="en-US" altLang="en-GB" sz="2000"/>
          </a:p>
          <a:p>
            <a:r>
              <a:rPr lang="en-US" altLang="en-GB" sz="2000"/>
              <a:t>Many students hesitate to seek professional help because of stigma, lack of awareness, or limited access to mental health resources.</a:t>
            </a:r>
            <a:endParaRPr lang="en-US" altLang="en-GB" sz="2000"/>
          </a:p>
          <a:p>
            <a:r>
              <a:rPr lang="en-US" altLang="en-GB" sz="2000"/>
              <a:t> With the advancement of artificial intelligence and machine learning, technology can play an important role in providing early mental health support.</a:t>
            </a:r>
            <a:endParaRPr lang="en-US" altLang="en-GB" sz="2000"/>
          </a:p>
          <a:p>
            <a:r>
              <a:rPr lang="en-US" altLang="en-GB" sz="2000"/>
              <a:t> The proposed AI-Based Student Mental Health Support System aims to help students monitor their mental well-being through self-assessment questionnaires, machine learning prediction, and an AI chatbot.</a:t>
            </a:r>
            <a:endParaRPr lang="en-US" altLang="en-GB" sz="2000"/>
          </a:p>
          <a:p>
            <a:r>
              <a:rPr lang="en-US" altLang="en-GB" sz="2000"/>
              <a:t> The system analyzes user responses to predict mental health risk levels and provides supportive guidance and wellness activities to promote emotional well-being.</a:t>
            </a:r>
            <a:endParaRPr lang="en-US" altLang="en-GB" sz="2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GB" altLang="en-US"/>
              <a:t>PROBLEM STATEMENT</a:t>
            </a:r>
            <a:endParaRPr lang="en-GB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0000" lnSpcReduction="20000"/>
          </a:bodyPr>
          <a:p>
            <a:r>
              <a:rPr lang="en-US" dirty="0">
                <a:sym typeface="+mn-ea"/>
              </a:rPr>
              <a:t>Many students struggle to recognize their mental health issues accurately, leading to delayed help-seeking or worsening stress.</a:t>
            </a:r>
            <a:endParaRPr lang="en-US" dirty="0"/>
          </a:p>
          <a:p>
            <a:r>
              <a:rPr lang="en-US" dirty="0">
                <a:sym typeface="+mn-ea"/>
              </a:rPr>
              <a:t>Traditional counselling and mental health apps are often generic, culturally unsuitable, or difficult to access, which prevents students from getting timely support.</a:t>
            </a:r>
            <a:endParaRPr lang="en-US" dirty="0"/>
          </a:p>
          <a:p>
            <a:r>
              <a:rPr lang="en-US" dirty="0">
                <a:sym typeface="+mn-ea"/>
              </a:rPr>
              <a:t>Counsellors face increasing workload, making it hard to provide immediate guidance for mild or early-stage mental health concerns.</a:t>
            </a:r>
            <a:endParaRPr lang="en-US" dirty="0"/>
          </a:p>
          <a:p>
            <a:r>
              <a:rPr lang="en-US" dirty="0">
                <a:sym typeface="+mn-ea"/>
              </a:rPr>
              <a:t>There is a need for an automated, intelligent, and user-friendly system that can analyze student self-assessment data and provide quick, reliable mental health guidance.</a:t>
            </a:r>
            <a:endParaRPr lang="en-US" dirty="0"/>
          </a:p>
          <a:p>
            <a:r>
              <a:rPr lang="en-US" dirty="0">
                <a:sym typeface="+mn-ea"/>
              </a:rPr>
              <a:t>The challenge lies in effectively interpreting text inputs from students using NLP and accurately predicting stress, anxiety, or depression levels using Machine Learning </a:t>
            </a:r>
            <a:r>
              <a:rPr lang="en-US" dirty="0" err="1">
                <a:sym typeface="+mn-ea"/>
              </a:rPr>
              <a:t>models.problem</a:t>
            </a:r>
            <a:r>
              <a:rPr lang="en-US" dirty="0">
                <a:sym typeface="+mn-ea"/>
              </a:rPr>
              <a:t> statement</a:t>
            </a:r>
            <a:endParaRPr lang="en-US" b="0" i="0" dirty="0">
              <a:effectLst/>
            </a:endParaRPr>
          </a:p>
          <a:p>
            <a:endParaRPr lang="en-GB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8950036" cy="1325563"/>
          </a:xfrm>
        </p:spPr>
        <p:txBody>
          <a:bodyPr/>
          <a:lstStyle/>
          <a:p>
            <a:r>
              <a:rPr lang="en-IN" dirty="0"/>
              <a:t>PROJECT OBJECTIVES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The primary objective of this project is to design and develop a web-based system for assessing students’ mental health conditions using Machine Learning and Artificial Intelligence techniques.</a:t>
            </a:r>
            <a:endParaRPr lang="en-US" sz="2000" dirty="0"/>
          </a:p>
          <a:p>
            <a:r>
              <a:rPr lang="en-US" sz="2000" dirty="0"/>
              <a:t>The system aims to collect self-assessment data securely and analyze it using a Logistic Regression model to accurately identify stress, anxiety, and depression levels. </a:t>
            </a:r>
            <a:endParaRPr lang="en-US" sz="2000" dirty="0"/>
          </a:p>
          <a:p>
            <a:r>
              <a:rPr lang="en-US" sz="2000" dirty="0"/>
              <a:t>Another objective is to integrate an AI chatbot based on Natural Language Processing to enable interactive communication and provide basic guidance to students.</a:t>
            </a:r>
            <a:endParaRPr lang="en-US" sz="2000" dirty="0"/>
          </a:p>
          <a:p>
            <a:r>
              <a:rPr lang="en-US" sz="2000" dirty="0"/>
              <a:t>The project also focuses on ensuring user privacy and anonymity to encourage honest participation.</a:t>
            </a:r>
            <a:endParaRPr lang="en-US" sz="2000" dirty="0"/>
          </a:p>
          <a:p>
            <a:r>
              <a:rPr lang="en-US" sz="2000" dirty="0"/>
              <a:t>Additionally, the system seeks to support early detection of mental health issues, reduce the manual workload of counselors through automated screening, and provide a scalable solution that can be enhanced with advanced models and features in the future.</a:t>
            </a:r>
            <a:endParaRPr lang="en-US" sz="20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1"/>
          <a:srcRect r="5721" b="8394"/>
          <a:stretch>
            <a:fillRect/>
          </a:stretch>
        </p:blipFill>
        <p:spPr>
          <a:xfrm>
            <a:off x="10471514" y="365124"/>
            <a:ext cx="1433006" cy="132556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GB" altLang="en-US"/>
              <a:t>LITERATURE REVIEW</a:t>
            </a:r>
            <a:endParaRPr lang="en-GB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p>
            <a:r>
              <a:rPr lang="en-US" altLang="en-GB" sz="2000" b="0" i="0" dirty="0">
                <a:effectLst/>
              </a:rPr>
              <a:t>Researchers have used machine learning algorithms such as logistic regression and decision trees to predict mental health conditions like stress and depression from questionnaire data.</a:t>
            </a:r>
            <a:endParaRPr lang="en-US" altLang="en-GB" sz="2000" b="0" i="0" dirty="0">
              <a:effectLst/>
            </a:endParaRPr>
          </a:p>
          <a:p>
            <a:r>
              <a:rPr lang="en-US" altLang="en-GB" sz="2000" b="0" i="0" dirty="0">
                <a:effectLst/>
              </a:rPr>
              <a:t>Natural Language Processing (NLP) techniques are used to analyze user text and detect emotions through sentiment analysis.</a:t>
            </a:r>
            <a:endParaRPr lang="en-US" altLang="en-GB" sz="2000" b="0" i="0" dirty="0">
              <a:effectLst/>
            </a:endParaRPr>
          </a:p>
          <a:p>
            <a:r>
              <a:rPr lang="en-US" altLang="en-GB" sz="2000" b="0" i="0" dirty="0">
                <a:effectLst/>
              </a:rPr>
              <a:t>AI chatbots are widely used in mental health applications to provide basic emotional support and guidance through conversations.</a:t>
            </a:r>
            <a:endParaRPr lang="en-US" altLang="en-GB" sz="2000" b="0" i="0" dirty="0">
              <a:effectLst/>
            </a:endParaRPr>
          </a:p>
          <a:p>
            <a:r>
              <a:rPr lang="en-US" altLang="en-GB" sz="2000" b="0" i="0" dirty="0">
                <a:effectLst/>
              </a:rPr>
              <a:t>Many systems include self-assessment questionnaires and wellness activities to help users monitor and improve their mental well-being.</a:t>
            </a:r>
            <a:endParaRPr lang="en-US" altLang="en-GB" sz="2000" b="0" i="0" dirty="0">
              <a:effectLst/>
            </a:endParaRPr>
          </a:p>
          <a:p>
            <a:pPr marL="0" indent="0">
              <a:buNone/>
            </a:pPr>
            <a:r>
              <a:rPr lang="en-US" altLang="en-GB" sz="2000" b="1" dirty="0">
                <a:effectLst/>
                <a:sym typeface="+mn-ea"/>
              </a:rPr>
              <a:t>Limitations: </a:t>
            </a:r>
            <a:r>
              <a:rPr lang="en-US" altLang="en-GB" sz="2000" dirty="0">
                <a:effectLst/>
                <a:sym typeface="+mn-ea"/>
              </a:rPr>
              <a:t>Generic advice, no personalization, reactive, and limited emotion understanding.</a:t>
            </a:r>
            <a:endParaRPr lang="en-US" altLang="en-GB" sz="2000" b="0" i="0" dirty="0">
              <a:effectLst/>
            </a:endParaRPr>
          </a:p>
          <a:p>
            <a:endParaRPr lang="en-GB" altLang="en-US" sz="2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8950036" cy="1325563"/>
          </a:xfrm>
        </p:spPr>
        <p:txBody>
          <a:bodyPr/>
          <a:lstStyle/>
          <a:p>
            <a:r>
              <a:rPr lang="en-GB" altLang="en-IN" dirty="0"/>
              <a:t>METHODOLGY</a:t>
            </a:r>
            <a:endParaRPr lang="en-GB" alt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altLang="en-GB" sz="1900" b="0" i="0" dirty="0">
                <a:effectLst/>
              </a:rPr>
              <a:t>Data Collection: Users provide input by answering mental health self-assessment questionnaires and interacting with the chatbot through the web interface.</a:t>
            </a:r>
            <a:endParaRPr lang="en-US" altLang="en-GB" sz="1900" b="0" i="0" dirty="0">
              <a:effectLst/>
            </a:endParaRPr>
          </a:p>
          <a:p>
            <a:r>
              <a:rPr lang="en-US" altLang="en-GB" sz="1900" b="0" i="0" dirty="0">
                <a:effectLst/>
              </a:rPr>
              <a:t>Data Preprocessing: The collected questionnaire data is cleaned, organized, and converted into a suitable format for machine learning analysis.</a:t>
            </a:r>
            <a:endParaRPr lang="en-US" altLang="en-GB" sz="1900" b="0" i="0" dirty="0">
              <a:effectLst/>
            </a:endParaRPr>
          </a:p>
          <a:p>
            <a:r>
              <a:rPr lang="en-US" altLang="en-GB" sz="1900" b="0" i="0" dirty="0">
                <a:effectLst/>
              </a:rPr>
              <a:t>Machine Learning Model: A Logistic Regression model is used to analyze the processed data and predict the user’s mental health risk level (low, moderate, or high).</a:t>
            </a:r>
            <a:endParaRPr lang="en-US" altLang="en-GB" sz="1900" b="0" i="0" dirty="0">
              <a:effectLst/>
            </a:endParaRPr>
          </a:p>
          <a:p>
            <a:r>
              <a:rPr lang="en-US" altLang="en-GB" sz="1900" b="0" i="0" dirty="0">
                <a:effectLst/>
              </a:rPr>
              <a:t>Chatbot Processing: User messages are analyzed using Natural Language Processing (NLP) techniques to detect emotions and provide supportive responses.</a:t>
            </a:r>
            <a:endParaRPr lang="en-US" altLang="en-GB" sz="1900" b="0" i="0" dirty="0">
              <a:effectLst/>
            </a:endParaRPr>
          </a:p>
          <a:p>
            <a:r>
              <a:rPr lang="en-US" altLang="en-GB" sz="1900" b="0" i="0" dirty="0">
                <a:effectLst/>
              </a:rPr>
              <a:t>Result Generation: The system generates prediction results and personalized feedback based on the analysis.</a:t>
            </a:r>
            <a:endParaRPr lang="en-US" altLang="en-GB" sz="1900" b="0" i="0" dirty="0">
              <a:effectLst/>
            </a:endParaRPr>
          </a:p>
          <a:p>
            <a:r>
              <a:rPr lang="en-US" altLang="en-GB" sz="1900" b="0" i="0" dirty="0">
                <a:effectLst/>
              </a:rPr>
              <a:t>Dat</a:t>
            </a:r>
            <a:r>
              <a:rPr lang="en-GB" altLang="en-US" sz="1900" b="0" i="0" dirty="0">
                <a:effectLst/>
              </a:rPr>
              <a:t>a</a:t>
            </a:r>
            <a:r>
              <a:rPr lang="en-US" altLang="en-GB" sz="1900" b="0" i="0" dirty="0">
                <a:effectLst/>
              </a:rPr>
              <a:t> Storage: All user data, predictions, and chatbot conversations are securely stored in a database for future reference and monitoring.</a:t>
            </a:r>
            <a:r>
              <a:rPr lang="en-GB" altLang="en-US" sz="1900" b="0" i="0" dirty="0">
                <a:effectLst/>
              </a:rPr>
              <a:t>	</a:t>
            </a:r>
            <a:endParaRPr lang="en-GB" altLang="en-US" sz="1900" b="0" i="0" dirty="0">
              <a:effectLst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1"/>
          <a:srcRect r="5721" b="8394"/>
          <a:stretch>
            <a:fillRect/>
          </a:stretch>
        </p:blipFill>
        <p:spPr>
          <a:xfrm>
            <a:off x="10471514" y="365124"/>
            <a:ext cx="1433006" cy="132556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GB" altLang="en-US"/>
              <a:t>IMPLEMENTATION</a:t>
            </a:r>
            <a:endParaRPr lang="en-GB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p>
            <a:r>
              <a:rPr lang="en-US" altLang="en-GB" sz="1900"/>
              <a:t>Frontend Development: The user interface was developed using HTML, CSS, and JavaScript to provide an interactive platform where users can complete questionnaires, interact with the chatbot, and view results.</a:t>
            </a:r>
            <a:endParaRPr lang="en-US" altLang="en-GB" sz="1900"/>
          </a:p>
          <a:p>
            <a:r>
              <a:rPr lang="en-US" altLang="en-GB" sz="1900"/>
              <a:t>Backend Development: The backend was implemented using the Django framework in Python to handle user requests, process data, and manage communication between different modules.</a:t>
            </a:r>
            <a:endParaRPr lang="en-US" altLang="en-GB" sz="1900"/>
          </a:p>
          <a:p>
            <a:r>
              <a:rPr lang="en-US" altLang="en-GB" sz="1900"/>
              <a:t>Machine Learning Integration: A Logistic Regression model was integrated into the backend to analyze questionnaire responses and predict the mental health risk level of users.</a:t>
            </a:r>
            <a:endParaRPr lang="en-US" altLang="en-GB" sz="1900"/>
          </a:p>
          <a:p>
            <a:r>
              <a:rPr lang="en-US" altLang="en-GB" sz="1900"/>
              <a:t>Chatbot Integration: A rule-based and NLP-supported chatbot was implemented to analyze user messages and provide supportive responses based on detected emotions.</a:t>
            </a:r>
            <a:endParaRPr lang="en-US" altLang="en-GB" sz="1900"/>
          </a:p>
          <a:p>
            <a:r>
              <a:rPr lang="en-US" altLang="en-GB" sz="1900"/>
              <a:t>Database Management: A database was used to store user information, questionnaire responses, prediction results, and chatbot conversation history securely.</a:t>
            </a:r>
            <a:endParaRPr lang="en-US" altLang="en-GB" sz="1900"/>
          </a:p>
          <a:p>
            <a:r>
              <a:rPr lang="en-US" altLang="en-GB" sz="1900"/>
              <a:t>API Communication: HTTP and API requests were used to enable smooth data exchange between the frontend interface and backend processing modules.</a:t>
            </a:r>
            <a:endParaRPr lang="en-US" altLang="en-GB" sz="19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8950325" cy="1063625"/>
          </a:xfrm>
        </p:spPr>
        <p:txBody>
          <a:bodyPr/>
          <a:lstStyle/>
          <a:p>
            <a:r>
              <a:rPr lang="en-GB" altLang="en-IN" dirty="0"/>
              <a:t>ARCHITECTURE </a:t>
            </a:r>
            <a:r>
              <a:rPr lang="en-IN" dirty="0"/>
              <a:t> DIAGRAM</a:t>
            </a:r>
            <a:endParaRPr lang="en-IN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1"/>
          <a:srcRect r="5721" b="8394"/>
          <a:stretch>
            <a:fillRect/>
          </a:stretch>
        </p:blipFill>
        <p:spPr>
          <a:xfrm>
            <a:off x="10471514" y="365124"/>
            <a:ext cx="1433006" cy="1325563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8300" y="1739900"/>
            <a:ext cx="6375400" cy="3378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8950036" cy="1325563"/>
          </a:xfrm>
        </p:spPr>
        <p:txBody>
          <a:bodyPr/>
          <a:lstStyle/>
          <a:p>
            <a:r>
              <a:rPr lang="en-GB" altLang="en-IN" dirty="0"/>
              <a:t>RESULTs &amp; ANALYSIS</a:t>
            </a:r>
            <a:endParaRPr lang="en-GB" altLang="en-IN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1"/>
          <a:srcRect r="5721" b="8394"/>
          <a:stretch>
            <a:fillRect/>
          </a:stretch>
        </p:blipFill>
        <p:spPr>
          <a:xfrm>
            <a:off x="10471514" y="365124"/>
            <a:ext cx="1433006" cy="1325563"/>
          </a:xfrm>
          <a:prstGeom prst="rect">
            <a:avLst/>
          </a:prstGeom>
        </p:spPr>
      </p:pic>
      <p:sp>
        <p:nvSpPr>
          <p:cNvPr id="9" name="Rectangle 4"/>
          <p:cNvSpPr>
            <a:spLocks noGrp="1" noChangeArrowheads="1"/>
          </p:cNvSpPr>
          <p:nvPr>
            <p:ph idx="1"/>
          </p:nvPr>
        </p:nvSpPr>
        <p:spPr bwMode="auto">
          <a:xfrm>
            <a:off x="838200" y="1464310"/>
            <a:ext cx="10411460" cy="49993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GB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system was tested using sample questionnaire responses and chatbot interactions.</a:t>
            </a:r>
            <a:endParaRPr kumimoji="0" lang="en-US" altLang="en-GB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GB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The Logistic Regression model successfully predicted mental health risk levels such as low, moderate, and high.</a:t>
            </a:r>
            <a:endParaRPr kumimoji="0" lang="en-US" altLang="en-GB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GB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The chatbot analyzed user messages and provided supportive responses. </a:t>
            </a:r>
            <a:endParaRPr kumimoji="0" lang="en-US" altLang="en-GB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GB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 addition, the system includes relaxation exercises and simple games to help reduce stress and improve user engagement.</a:t>
            </a:r>
            <a:endParaRPr kumimoji="0" lang="en-US" altLang="en-GB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GB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These activities encourage users to take short mental breaks and maintain emotional balance. </a:t>
            </a:r>
            <a:endParaRPr kumimoji="0" lang="en-US" altLang="en-GB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GB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results are displayed on the user dashboard, allowing users to view their mental health status, activity progress, and personalized feedback</a:t>
            </a:r>
            <a:endParaRPr kumimoji="0" lang="en-US" altLang="en-GB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GB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The results are displayed on the dashboard, allowing users to view their mental health status and feedback.</a:t>
            </a:r>
            <a:endParaRPr kumimoji="0" lang="en-US" altLang="en-GB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GB" altLang="en-US"/>
              <a:t>CONCLUSION</a:t>
            </a:r>
            <a:endParaRPr lang="en-GB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en-GB" sz="2000"/>
              <a:t>The AI-based mental health support system helps users monitor their mental well-being through questionnaires, machine learning prediction, and chatbot interaction.</a:t>
            </a:r>
            <a:endParaRPr lang="en-US" altLang="en-GB" sz="2000"/>
          </a:p>
          <a:p>
            <a:r>
              <a:rPr lang="en-US" altLang="en-GB" sz="2000"/>
              <a:t> The system analyzes user responses and predicts mental health risk levels such as low, moderate, or high. </a:t>
            </a:r>
            <a:endParaRPr lang="en-US" altLang="en-GB" sz="2000"/>
          </a:p>
          <a:p>
            <a:r>
              <a:rPr lang="en-US" altLang="en-GB" sz="2000"/>
              <a:t>The chatbot provides supportive responses and basic coping suggestions based on user messages.</a:t>
            </a:r>
            <a:endParaRPr lang="en-US" altLang="en-GB" sz="2000"/>
          </a:p>
          <a:p>
            <a:r>
              <a:rPr lang="en-US" altLang="en-GB" sz="2000"/>
              <a:t>In addition, the platform includes relaxation exercises and simple games that help reduce stress and improve user engagement. </a:t>
            </a:r>
            <a:endParaRPr lang="en-US" altLang="en-GB" sz="2000"/>
          </a:p>
          <a:p>
            <a:r>
              <a:rPr lang="en-US" altLang="en-GB" sz="2000"/>
              <a:t>The system also stores user data securely and displays results through a dashboard for easy understanding.</a:t>
            </a:r>
            <a:endParaRPr lang="en-US" altLang="en-GB" sz="2000"/>
          </a:p>
          <a:p>
            <a:r>
              <a:rPr lang="en-US" altLang="en-GB" sz="2000"/>
              <a:t> Overall, the project demonstrates how artificial intelligence, machine learning, and web technologies can be integrated to create an accessible and effective mental health support platform for users.</a:t>
            </a:r>
            <a:endParaRPr lang="en-US" altLang="en-GB" sz="2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GB" altLang="en-US"/>
              <a:t>FUTURE SCOPE</a:t>
            </a:r>
            <a:endParaRPr lang="en-GB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p>
            <a:r>
              <a:rPr lang="en-US" altLang="en-GB" sz="2000"/>
              <a:t>A mobile application version can be developed so users can access mental health support anytime and anywhere.</a:t>
            </a:r>
            <a:endParaRPr lang="en-US" altLang="en-GB" sz="2000"/>
          </a:p>
          <a:p>
            <a:r>
              <a:rPr lang="en-US" altLang="en-GB" sz="2000"/>
              <a:t>The chatbot can be improved using advanced NLP and conversational AI to provide more personalized and human-like responses.</a:t>
            </a:r>
            <a:endParaRPr lang="en-US" altLang="en-GB" sz="2000"/>
          </a:p>
          <a:p>
            <a:r>
              <a:rPr lang="en-US" altLang="en-GB" sz="2000"/>
              <a:t>The system can be integrated with wearable devices or health tracking apps to monitor stress levels, sleep patterns, and physical activity.</a:t>
            </a:r>
            <a:endParaRPr lang="en-US" altLang="en-GB" sz="2000"/>
          </a:p>
          <a:p>
            <a:r>
              <a:rPr lang="en-US" altLang="en-GB" sz="2000"/>
              <a:t>The system can be enhanced by using advanced machine learning and deep learning models to improve the accuracy of mental health prediction.</a:t>
            </a:r>
            <a:endParaRPr lang="en-US" altLang="en-GB" sz="2000"/>
          </a:p>
          <a:p>
            <a:r>
              <a:rPr lang="en-US" altLang="en-GB" sz="2000"/>
              <a:t>Additional wellness activities, games, and meditation programs can be added to improve user engagement and mental relaxation.</a:t>
            </a:r>
            <a:endParaRPr lang="en-US" altLang="en-GB" sz="2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/>
          <p:cNvSpPr txBox="1"/>
          <p:nvPr/>
        </p:nvSpPr>
        <p:spPr>
          <a:xfrm>
            <a:off x="630380" y="4653555"/>
            <a:ext cx="5192903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IN" b="1" dirty="0"/>
              <a:t>RITHIKKA J</a:t>
            </a:r>
            <a:endParaRPr lang="en-IN" b="1" dirty="0"/>
          </a:p>
          <a:p>
            <a:pPr marL="0" indent="0" algn="ctr">
              <a:buNone/>
            </a:pPr>
            <a:r>
              <a:rPr lang="en-IN" sz="2400" b="1" dirty="0"/>
              <a:t>rithikkaj.aids2022@citchennai.net</a:t>
            </a:r>
            <a:endParaRPr lang="en-IN" sz="2400" b="1" dirty="0"/>
          </a:p>
        </p:txBody>
      </p:sp>
      <p:sp>
        <p:nvSpPr>
          <p:cNvPr id="6" name="Subtitle 2"/>
          <p:cNvSpPr txBox="1"/>
          <p:nvPr/>
        </p:nvSpPr>
        <p:spPr>
          <a:xfrm>
            <a:off x="5678905" y="4653555"/>
            <a:ext cx="5882714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IN" b="1" dirty="0"/>
              <a:t>RAJAPREETHI V</a:t>
            </a:r>
            <a:endParaRPr lang="en-IN" b="1" dirty="0"/>
          </a:p>
          <a:p>
            <a:pPr marL="0" indent="0" algn="ctr">
              <a:buNone/>
            </a:pPr>
            <a:r>
              <a:rPr lang="en-IN" sz="2400" b="1" dirty="0"/>
              <a:t>rajapreethi.aids2022@citchennai.net</a:t>
            </a:r>
            <a:endParaRPr lang="en-IN" sz="2400" b="1" dirty="0"/>
          </a:p>
        </p:txBody>
      </p:sp>
      <p:pic>
        <p:nvPicPr>
          <p:cNvPr id="3074" name="Picture 2" descr="Thank you text Vectors &amp; Illustrations for Free Download | Freepik"/>
          <p:cNvPicPr>
            <a:picLocks noChangeAspect="1" noChangeArrowheads="1"/>
          </p:cNvPicPr>
          <p:nvPr/>
        </p:nvPicPr>
        <p:blipFill>
          <a:blip r:embed="rId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8139" y="43136"/>
            <a:ext cx="5095722" cy="36060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7579</Words>
  <Application>WPS Presentation</Application>
  <PresentationFormat>Widescreen</PresentationFormat>
  <Paragraphs>100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0" baseType="lpstr">
      <vt:lpstr>Arial</vt:lpstr>
      <vt:lpstr>SimSun</vt:lpstr>
      <vt:lpstr>Wingdings</vt:lpstr>
      <vt:lpstr>Calibri Light</vt:lpstr>
      <vt:lpstr>Calibri</vt:lpstr>
      <vt:lpstr>Microsoft YaHei</vt:lpstr>
      <vt:lpstr>Arial Unicode MS</vt:lpstr>
      <vt:lpstr>Office Theme</vt:lpstr>
      <vt:lpstr>“AI-Based Student Mental Health Support System”</vt:lpstr>
      <vt:lpstr>PowerPoint 演示文稿</vt:lpstr>
      <vt:lpstr>PowerPoint 演示文稿</vt:lpstr>
      <vt:lpstr>PROJECT OBJECTIVES</vt:lpstr>
      <vt:lpstr>PowerPoint 演示文稿</vt:lpstr>
      <vt:lpstr>MERIT OF THE PROBLEM</vt:lpstr>
      <vt:lpstr>PowerPoint 演示文稿</vt:lpstr>
      <vt:lpstr>BLOCK DIAGRAM</vt:lpstr>
      <vt:lpstr>MODEL DESCRIPTION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Pratham Verma</dc:creator>
  <cp:lastModifiedBy>RITHIKKA.J</cp:lastModifiedBy>
  <cp:revision>21</cp:revision>
  <dcterms:created xsi:type="dcterms:W3CDTF">2023-08-07T09:01:00Z</dcterms:created>
  <dcterms:modified xsi:type="dcterms:W3CDTF">2026-03-06T08:35:31Z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C6AD6F2542144D24A62098EF0A894FB9_12</vt:lpwstr>
  </property>
  <property fmtid="{D5CDD505-2E9C-101B-9397-08002B2CF9AE}" pid="3" name="KSOProductBuildVer">
    <vt:lpwstr>2057-12.2.0.23196</vt:lpwstr>
  </property>
</Properties>
</file>